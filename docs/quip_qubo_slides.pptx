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9" r:id="rId10"/>
    <p:sldId id="260" r:id="rId905"/>
    <p:sldId id="263" r:id="rId908"/>
    <p:sldId id="261" r:id="rId906"/>
    <p:sldId id="262" r:id="rId907"/>
  </p:sldIdLst>
  <p:sldSz cx="12192000" cy="6858000" type="screen4x3"/>
  <p:notesSz cx="6858000" cy="9144000"/>
  <p:embeddedFontLst>
    <p:embeddedFont>
      <p:font typeface="ABC Gaisyr"/>
      <p:regular r:id="rId901"/>
    </p:embeddedFont>
    <p:embeddedFont>
      <p:font typeface="ABC Favorit"/>
      <p:regular r:id="rId902"/>
    </p:embeddedFont>
    <p:embeddedFont>
      <p:font typeface="ABC Favorit Mono"/>
      <p:regular r:id="rId903"/>
      <p:italic r:id="rId90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901" Type="http://schemas.openxmlformats.org/officeDocument/2006/relationships/font" Target="fonts/font1.fntdata"/><Relationship Id="rId902" Type="http://schemas.openxmlformats.org/officeDocument/2006/relationships/font" Target="fonts/font2.fntdata"/><Relationship Id="rId903" Type="http://schemas.openxmlformats.org/officeDocument/2006/relationships/font" Target="fonts/font3.fntdata"/><Relationship Id="rId904" Type="http://schemas.openxmlformats.org/officeDocument/2006/relationships/font" Target="fonts/font4.fntdata"/><Relationship Id="rId905" Type="http://schemas.openxmlformats.org/officeDocument/2006/relationships/slide" Target="slides/slide5.xml"/><Relationship Id="rId906" Type="http://schemas.openxmlformats.org/officeDocument/2006/relationships/slide" Target="slides/slide6.xml"/><Relationship Id="rId907" Type="http://schemas.openxmlformats.org/officeDocument/2006/relationships/slide" Target="slides/slide7.xml"/><Relationship Id="rId908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000" y="6540500"/>
            <a:ext cx="6159500" cy="2667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 spc="-13">
                <a:solidFill>
                  <a:srgbClr val="B8B8BC"/>
                </a:solidFill>
                <a:latin typeface="ABC Favorit Mono"/>
              </a:rPr>
              <a:t>QUIP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0" y="6540500"/>
            <a:ext cx="6159500" cy="2667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 spc="-13">
                <a:solidFill>
                  <a:srgbClr val="B8B8BC"/>
                </a:solidFill>
                <a:latin typeface="ABC Favorit Mono"/>
              </a:rPr>
              <a:t>YOUR NAME  @YOURHANDLE  NAME@POSTQUANT.XYZ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WELL" Type="http://schemas.openxmlformats.org/officeDocument/2006/relationships/image" Target="../media/well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GRAPH" Type="http://schemas.openxmlformats.org/officeDocument/2006/relationships/image" Target="../media/graph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FLOW" Type="http://schemas.openxmlformats.org/officeDocument/2006/relationships/image" Target="../media/flow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SLIP" Type="http://schemas.openxmlformats.org/officeDocument/2006/relationships/image" Target="../media/slippage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WG" Type="http://schemas.openxmlformats.org/officeDocument/2006/relationships/image" Target="../media/well_graph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mary_tm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word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50" y="127000"/>
            <a:ext cx="622300" cy="234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" y="6032500"/>
            <a:ext cx="7048500" cy="12827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 spc="-13">
                <a:solidFill>
                  <a:srgbClr val="18181B"/>
                </a:solidFill>
                <a:latin typeface="ABC Favorit Mono"/>
              </a:rPr>
              <a:t>QUIP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6500" y="6032500"/>
            <a:ext cx="7048500" cy="12827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 spc="-13">
                <a:solidFill>
                  <a:srgbClr val="18181B"/>
                </a:solidFill>
                <a:latin typeface="ABC Favorit Mono"/>
              </a:rPr>
              <a:t>YOUR NAME  @YOURHANDLE  NAME@POSTQUANT.XYZ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7500" y="857250"/>
            <a:ext cx="9017000" cy="24130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6600" i="0" spc="-132">
                <a:solidFill>
                  <a:srgbClr val="18181B"/>
                </a:solidFill>
                <a:latin typeface="ABC Gaisyr"/>
              </a:rPr>
              <a:t>Quantum Asset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6600" i="0" spc="-132">
                <a:solidFill>
                  <a:srgbClr val="18181B"/>
                </a:solidFill>
                <a:latin typeface="ABC Gaisyr"/>
              </a:rPr>
              <a:t>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787650"/>
            <a:ext cx="5334000" cy="15875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 spc="0">
                <a:solidFill>
                  <a:srgbClr val="18181B"/>
                </a:solidFill>
                <a:latin typeface="ABC Favorit Mono"/>
              </a:rPr>
              <a:t>OPTIMIZING PORTFOLIOS ON A QUANTUM COMPUTER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203700"/>
            <a:ext cx="5334000" cy="1803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 spc="0">
                <a:solidFill>
                  <a:srgbClr val="18181B"/>
                </a:solidFill>
                <a:latin typeface="ABC Favorit Mono"/>
              </a:rPr>
              <a:t>FRAMING THE BASKET AS A QUBO — ASSETS AS NODES,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 spc="0">
                <a:solidFill>
                  <a:srgbClr val="18181B"/>
                </a:solidFill>
                <a:latin typeface="ABC Favorit Mono"/>
              </a:rPr>
              <a:t>COUPLINGS AS EDGES — THEN RACING CLASSICAL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 spc="0">
                <a:solidFill>
                  <a:srgbClr val="18181B"/>
                </a:solidFill>
                <a:latin typeface="ABC Favorit Mono"/>
              </a:rPr>
              <a:t>AND QUANTUM SOLVERS FOR THE BEST ALLOCATION</a:t>
            </a:r>
          </a:p>
        </p:txBody>
      </p:sp>
      <p:pic>
        <p:nvPicPr>
          <p:cNvPr id="9" name="Picture 8" descr="butterfly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700" y="40259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blank_light.png"/>
          <p:cNvPicPr>
            <a:picLocks noChangeAspect="1"/>
          </p:cNvPicPr>
          <p:nvPr/>
        </p:nvPicPr>
        <p:blipFill>
          <a:blip r:embed="rId2"/>
          <a:srcRect b="5185"/>
          <a:stretch>
            <a:fillRect/>
          </a:stretch>
        </p:blipFill>
        <p:spPr>
          <a:xfrm>
            <a:off x="0" y="0"/>
            <a:ext cx="12192000" cy="6502400"/>
          </a:xfrm>
          <a:prstGeom prst="rect">
            <a:avLst/>
          </a:prstGeom>
        </p:spPr>
      </p:pic>
      <p:pic>
        <p:nvPicPr>
          <p:cNvPr id="3" name="Picture 2" descr="word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50" y="127000"/>
            <a:ext cx="622300" cy="234950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>
          <a:xfrm>
            <a:off x="571500" y="1003300"/>
            <a:ext cx="9525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1" spc="48">
                <a:solidFill>
                  <a:srgbClr val="71717B"/>
                </a:solidFill>
                <a:latin typeface="ABC Favorit Mono"/>
              </a:rPr>
              <a:t>ASSET SELECTION AS AN OPTIMIZATION LANDSCAPE</a:t>
            </a:r>
          </a:p>
        </p:txBody>
      </p:sp>
      <p:sp>
        <p:nvSpPr>
          <p:cNvPr id="12" name="TextBox 13"/>
          <p:cNvSpPr txBox="1"/>
          <p:nvPr/>
        </p:nvSpPr>
        <p:spPr>
          <a:xfrm>
            <a:off x="571500" y="1308100"/>
            <a:ext cx="10800000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Find the lowest point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on the cost surface</a:t>
            </a:r>
          </a:p>
        </p:txBody>
      </p:sp>
      <p:sp>
        <p:nvSpPr>
          <p:cNvPr id="14" name="TextBox 15"/>
          <p:cNvSpPr txBox="1"/>
          <p:nvPr/>
        </p:nvSpPr>
        <p:spPr>
          <a:xfrm>
            <a:off x="571500" y="2560000"/>
            <a:ext cx="5050000" cy="130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spc="0">
                <a:solidFill>
                  <a:srgbClr val="18181B"/>
                </a:solidFill>
                <a:latin typeface="ABC Favorit"/>
              </a:rPr>
              <a:t>Every basket is a point on a surface shaped by expected return, risk, and market conditions. The optimizer descends toward the deepest wells — the allocations that cost the least to hold and trade.</a:t>
            </a:r>
          </a:p>
        </p:txBody>
      </p:sp>
      <p:sp>
        <p:nvSpPr>
          <p:cNvPr id="16" name="TextBox 17"/>
          <p:cNvSpPr txBox="1"/>
          <p:nvPr/>
        </p:nvSpPr>
        <p:spPr>
          <a:xfrm>
            <a:off x="571500" y="4060000"/>
            <a:ext cx="5050000" cy="90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1" spc="30">
                <a:solidFill>
                  <a:srgbClr val="71717B"/>
                </a:solidFill>
                <a:latin typeface="ABC Favorit Mono"/>
              </a:rPr>
              <a:t>DEEPER WELL  =  MORE OPTIMAL ALLOCATION</a:t>
            </a:r>
          </a:p>
        </p:txBody>
      </p:sp>
      <p:pic>
        <p:nvPicPr>
          <p:cNvPr id="18" name="Gravity well"/>
          <p:cNvPicPr>
            <a:picLocks noChangeAspect="1"/>
          </p:cNvPicPr>
          <p:nvPr/>
        </p:nvPicPr>
        <p:blipFill>
          <a:blip r:embed="rIdWELL"/>
          <a:stretch>
            <a:fillRect/>
          </a:stretch>
        </p:blipFill>
        <p:spPr>
          <a:xfrm>
            <a:off x="5980000" y="1453086"/>
            <a:ext cx="5520000" cy="3393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blank_light.png"/>
          <p:cNvPicPr>
            <a:picLocks noChangeAspect="1"/>
          </p:cNvPicPr>
          <p:nvPr/>
        </p:nvPicPr>
        <p:blipFill>
          <a:blip r:embed="rId2"/>
          <a:srcRect b="5185"/>
          <a:stretch>
            <a:fillRect/>
          </a:stretch>
        </p:blipFill>
        <p:spPr>
          <a:xfrm>
            <a:off x="0" y="0"/>
            <a:ext cx="12192000" cy="6502400"/>
          </a:xfrm>
          <a:prstGeom prst="rect">
            <a:avLst/>
          </a:prstGeom>
        </p:spPr>
      </p:pic>
      <p:pic>
        <p:nvPicPr>
          <p:cNvPr id="3" name="Picture 2" descr="word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50" y="127000"/>
            <a:ext cx="622300" cy="234950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>
          <a:xfrm>
            <a:off x="571500" y="1003300"/>
            <a:ext cx="9525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1" spc="48">
                <a:solidFill>
                  <a:srgbClr val="71717B"/>
                </a:solidFill>
                <a:latin typeface="ABC Favorit Mono"/>
              </a:rPr>
              <a:t>FORMULATING THE QUBO</a:t>
            </a:r>
          </a:p>
        </p:txBody>
      </p:sp>
      <p:sp>
        <p:nvSpPr>
          <p:cNvPr id="12" name="TextBox 13"/>
          <p:cNvSpPr txBox="1"/>
          <p:nvPr/>
        </p:nvSpPr>
        <p:spPr>
          <a:xfrm>
            <a:off x="571500" y="1308100"/>
            <a:ext cx="10800000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A graph of assets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and their couplings</a:t>
            </a:r>
          </a:p>
        </p:txBody>
      </p:sp>
      <p:sp>
        <p:nvSpPr>
          <p:cNvPr id="14" name="TextBox 15"/>
          <p:cNvSpPr txBox="1"/>
          <p:nvPr/>
        </p:nvSpPr>
        <p:spPr>
          <a:xfrm>
            <a:off x="571500" y="2540000"/>
            <a:ext cx="4250000" cy="240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spc="0">
                <a:solidFill>
                  <a:srgbClr val="18181B"/>
                </a:solidFill>
                <a:latin typeface="ABC Favorit"/>
              </a:rPr>
              <a:t>Nodes are assets; each carries a weight h (its standalone appeal). Edges are the J couplings between assets — how holding one affects another.</a:t>
            </a:r>
          </a:p>
        </p:txBody>
      </p:sp>
      <p:sp>
        <p:nvSpPr>
          <p:cNvPr id="16" name="Chip"/>
          <p:cNvSpPr/>
          <p:nvPr/>
        </p:nvSpPr>
        <p:spPr>
          <a:xfrm>
            <a:off x="571500" y="4360000"/>
            <a:ext cx="200000" cy="200000"/>
          </a:xfrm>
          <a:prstGeom prst="roundRect">
            <a:avLst>
              <a:gd name="adj" fmla="val 30000"/>
            </a:avLst>
          </a:prstGeom>
          <a:solidFill>
            <a:srgbClr val="2BB6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8"/>
          <p:cNvSpPr txBox="1"/>
          <p:nvPr/>
        </p:nvSpPr>
        <p:spPr>
          <a:xfrm>
            <a:off x="861000" y="4330000"/>
            <a:ext cx="4000000" cy="28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1" spc="20">
                <a:solidFill>
                  <a:srgbClr val="18181B"/>
                </a:solidFill>
                <a:latin typeface="ABC Favorit Mono"/>
              </a:rPr>
              <a:t>POSITIVE J  —  REINFORCING</a:t>
            </a:r>
          </a:p>
        </p:txBody>
      </p:sp>
      <p:sp>
        <p:nvSpPr>
          <p:cNvPr id="19" name="Chip"/>
          <p:cNvSpPr/>
          <p:nvPr/>
        </p:nvSpPr>
        <p:spPr>
          <a:xfrm>
            <a:off x="571500" y="4720000"/>
            <a:ext cx="200000" cy="200000"/>
          </a:xfrm>
          <a:prstGeom prst="roundRect">
            <a:avLst>
              <a:gd name="adj" fmla="val 30000"/>
            </a:avLst>
          </a:prstGeom>
          <a:solidFill>
            <a:srgbClr val="E045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1"/>
          <p:cNvSpPr txBox="1"/>
          <p:nvPr/>
        </p:nvSpPr>
        <p:spPr>
          <a:xfrm>
            <a:off x="861000" y="4690000"/>
            <a:ext cx="4000000" cy="28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i="0" b="1" spc="20">
                <a:solidFill>
                  <a:srgbClr val="18181B"/>
                </a:solidFill>
                <a:latin typeface="ABC Favorit Mono"/>
              </a:rPr>
              <a:t>NEGATIVE J  —  OPPOSING</a:t>
            </a:r>
          </a:p>
        </p:txBody>
      </p:sp>
      <p:sp>
        <p:nvSpPr>
          <p:cNvPr id="22" name="TextBox 23"/>
          <p:cNvSpPr txBox="1"/>
          <p:nvPr/>
        </p:nvSpPr>
        <p:spPr>
          <a:xfrm>
            <a:off x="571500" y="5080000"/>
            <a:ext cx="4600000" cy="60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 spc="0">
                <a:solidFill>
                  <a:srgbClr val="71717B"/>
                </a:solidFill>
                <a:latin typeface="ABC Favorit"/>
              </a:rPr>
              <a:t>Topology is irregular — a node can couple to many others, not just four.</a:t>
            </a:r>
          </a:p>
        </p:txBody>
      </p:sp>
      <p:pic>
        <p:nvPicPr>
          <p:cNvPr id="24" name="QUBO graph"/>
          <p:cNvPicPr>
            <a:picLocks noChangeAspect="1"/>
          </p:cNvPicPr>
          <p:nvPr/>
        </p:nvPicPr>
        <p:blipFill>
          <a:blip r:embed="rIdGRAPH"/>
          <a:stretch>
            <a:fillRect/>
          </a:stretch>
        </p:blipFill>
        <p:spPr>
          <a:xfrm>
            <a:off x="5560000" y="1300000"/>
            <a:ext cx="6050000" cy="453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blank_light.png"/>
          <p:cNvPicPr>
            <a:picLocks noChangeAspect="1"/>
          </p:cNvPicPr>
          <p:nvPr/>
        </p:nvPicPr>
        <p:blipFill>
          <a:blip r:embed="rId2"/>
          <a:srcRect b="5185"/>
          <a:stretch>
            <a:fillRect/>
          </a:stretch>
        </p:blipFill>
        <p:spPr>
          <a:xfrm>
            <a:off x="0" y="0"/>
            <a:ext cx="12192000" cy="6502400"/>
          </a:xfrm>
          <a:prstGeom prst="rect">
            <a:avLst/>
          </a:prstGeom>
        </p:spPr>
      </p:pic>
      <p:pic>
        <p:nvPicPr>
          <p:cNvPr id="3" name="Picture 2" descr="word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50" y="127000"/>
            <a:ext cx="622300" cy="234950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>
          <a:xfrm>
            <a:off x="571500" y="1003300"/>
            <a:ext cx="9525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1" spc="48">
                <a:solidFill>
                  <a:srgbClr val="71717B"/>
                </a:solidFill>
                <a:latin typeface="ABC Favorit Mono"/>
              </a:rPr>
              <a:t>FROM PROBLEM TO PERSISTED PORTFOLIO</a:t>
            </a:r>
          </a:p>
        </p:txBody>
      </p:sp>
      <p:sp>
        <p:nvSpPr>
          <p:cNvPr id="12" name="TextBox 13"/>
          <p:cNvSpPr txBox="1"/>
          <p:nvPr/>
        </p:nvSpPr>
        <p:spPr>
          <a:xfrm>
            <a:off x="571500" y="1308100"/>
            <a:ext cx="10800000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One straight line: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estimate → solve → report</a:t>
            </a:r>
          </a:p>
        </p:txBody>
      </p:sp>
      <p:sp>
        <p:nvSpPr>
          <p:cNvPr id="14" name="TextBox 15"/>
          <p:cNvSpPr txBox="1"/>
          <p:nvPr/>
        </p:nvSpPr>
        <p:spPr>
          <a:xfrm>
            <a:off x="571500" y="2520000"/>
            <a:ext cx="10600000" cy="76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spc="0">
                <a:solidFill>
                  <a:srgbClr val="18181B"/>
                </a:solidFill>
                <a:latin typeface="ABC Favorit"/>
              </a:rPr>
              <a:t>Build a PortfolioProblem from recent returns (μ = trend, Σ = risk) and the slider knobs (γ, w_max, w_min); race the solvers for the best feasible weights; value money at spot, split it into token units, save, and report.</a:t>
            </a:r>
          </a:p>
        </p:txBody>
      </p:sp>
      <p:pic>
        <p:nvPicPr>
          <p:cNvPr id="16" name="Pipeline flow"/>
          <p:cNvPicPr>
            <a:picLocks noChangeAspect="1"/>
          </p:cNvPicPr>
          <p:nvPr/>
        </p:nvPicPr>
        <p:blipFill>
          <a:blip r:embed="rIdFLOW"/>
          <a:stretch>
            <a:fillRect/>
          </a:stretch>
        </p:blipFill>
        <p:spPr>
          <a:xfrm>
            <a:off x="571500" y="3340000"/>
            <a:ext cx="11049000" cy="223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blank_light.png"/>
          <p:cNvPicPr>
            <a:picLocks noChangeAspect="1"/>
          </p:cNvPicPr>
          <p:nvPr/>
        </p:nvPicPr>
        <p:blipFill>
          <a:blip r:embed="rId2"/>
          <a:srcRect b="5185"/>
          <a:stretch>
            <a:fillRect/>
          </a:stretch>
        </p:blipFill>
        <p:spPr>
          <a:xfrm>
            <a:off x="0" y="0"/>
            <a:ext cx="12192000" cy="6502400"/>
          </a:xfrm>
          <a:prstGeom prst="rect">
            <a:avLst/>
          </a:prstGeom>
        </p:spPr>
      </p:pic>
      <p:pic>
        <p:nvPicPr>
          <p:cNvPr id="3" name="Picture 2" descr="word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50" y="127000"/>
            <a:ext cx="622300" cy="234950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>
          <a:xfrm>
            <a:off x="571500" y="1003300"/>
            <a:ext cx="9525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1" spc="48">
                <a:solidFill>
                  <a:srgbClr val="71717B"/>
                </a:solidFill>
                <a:latin typeface="ABC Favorit Mono"/>
              </a:rPr>
              <a:t>WHY POOL OPTIMIZATION PAYS OFF</a:t>
            </a:r>
          </a:p>
        </p:txBody>
      </p:sp>
      <p:sp>
        <p:nvSpPr>
          <p:cNvPr id="12" name="TextBox 13"/>
          <p:cNvSpPr txBox="1"/>
          <p:nvPr/>
        </p:nvSpPr>
        <p:spPr>
          <a:xfrm>
            <a:off x="571500" y="1308100"/>
            <a:ext cx="10800000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Less slippage now,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more capital later</a:t>
            </a:r>
          </a:p>
        </p:txBody>
      </p:sp>
      <p:sp>
        <p:nvSpPr>
          <p:cNvPr id="14" name="TextBox 15"/>
          <p:cNvSpPr txBox="1"/>
          <p:nvPr/>
        </p:nvSpPr>
        <p:spPr>
          <a:xfrm>
            <a:off x="571500" y="2520000"/>
            <a:ext cx="4350000" cy="260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spc="0">
                <a:solidFill>
                  <a:srgbClr val="18181B"/>
                </a:solidFill>
                <a:latin typeface="ABC Favorit"/>
              </a:rPr>
              <a:t>Optimizing across the pool routes weight toward the assets that are cheapest to trade under current conditions — so each rebalance loses less to slippage.</a:t>
            </a:r>
          </a:p>
        </p:txBody>
      </p:sp>
      <p:sp>
        <p:nvSpPr>
          <p:cNvPr id="16" name="TextBox 17"/>
          <p:cNvSpPr txBox="1"/>
          <p:nvPr/>
        </p:nvSpPr>
        <p:spPr>
          <a:xfrm>
            <a:off x="571500" y="4360000"/>
            <a:ext cx="4350000" cy="140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spc="0">
                <a:solidFill>
                  <a:srgbClr val="18181B"/>
                </a:solidFill>
                <a:latin typeface="ABC Favorit"/>
              </a:rPr>
              <a:t>That edge compounds: you still buy the least-weighted assets, but you keep more of every dollar over the long run.</a:t>
            </a:r>
          </a:p>
        </p:txBody>
      </p:sp>
      <p:pic>
        <p:nvPicPr>
          <p:cNvPr id="18" name="Slippage comparison"/>
          <p:cNvPicPr>
            <a:picLocks noChangeAspect="1"/>
          </p:cNvPicPr>
          <p:nvPr/>
        </p:nvPicPr>
        <p:blipFill>
          <a:blip r:embed="rIdSLIP"/>
          <a:stretch>
            <a:fillRect/>
          </a:stretch>
        </p:blipFill>
        <p:spPr>
          <a:xfrm>
            <a:off x="5520000" y="1700000"/>
            <a:ext cx="6090000" cy="39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blank_light.png"/>
          <p:cNvPicPr>
            <a:picLocks noChangeAspect="1"/>
          </p:cNvPicPr>
          <p:nvPr/>
        </p:nvPicPr>
        <p:blipFill>
          <a:blip r:embed="rId2"/>
          <a:srcRect b="5185"/>
          <a:stretch>
            <a:fillRect/>
          </a:stretch>
        </p:blipFill>
        <p:spPr>
          <a:xfrm>
            <a:off x="0" y="0"/>
            <a:ext cx="12192000" cy="6502400"/>
          </a:xfrm>
          <a:prstGeom prst="rect">
            <a:avLst/>
          </a:prstGeom>
        </p:spPr>
      </p:pic>
      <p:pic>
        <p:nvPicPr>
          <p:cNvPr id="3" name="Picture 2" descr="word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50" y="127000"/>
            <a:ext cx="622300" cy="234950"/>
          </a:xfrm>
          <a:prstGeom prst="rect">
            <a:avLst/>
          </a:prstGeom>
        </p:spPr>
      </p:pic>
      <p:sp>
        <p:nvSpPr>
          <p:cNvPr id="10" name="TextBox 11"/>
          <p:cNvSpPr txBox="1"/>
          <p:nvPr/>
        </p:nvSpPr>
        <p:spPr>
          <a:xfrm>
            <a:off x="571500" y="1003300"/>
            <a:ext cx="9525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 b="1" spc="48">
                <a:solidFill>
                  <a:srgbClr val="71717B"/>
                </a:solidFill>
                <a:latin typeface="ABC Favorit Mono"/>
              </a:rPr>
              <a:t>ASSETS AS WELLS, CONSTRAINTS AS NODES</a:t>
            </a:r>
          </a:p>
        </p:txBody>
      </p:sp>
      <p:sp>
        <p:nvSpPr>
          <p:cNvPr id="12" name="TextBox 13"/>
          <p:cNvSpPr txBox="1"/>
          <p:nvPr/>
        </p:nvSpPr>
        <p:spPr>
          <a:xfrm>
            <a:off x="571500" y="1308100"/>
            <a:ext cx="10800000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The optimizer settles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200" i="0" spc="-84">
                <a:solidFill>
                  <a:srgbClr val="18181B"/>
                </a:solidFill>
                <a:latin typeface="ABC Gaisyr"/>
              </a:rPr>
              <a:t>into the deepest wells</a:t>
            </a:r>
          </a:p>
        </p:txBody>
      </p:sp>
      <p:sp>
        <p:nvSpPr>
          <p:cNvPr id="14" name="TextBox 15"/>
          <p:cNvSpPr txBox="1"/>
          <p:nvPr/>
        </p:nvSpPr>
        <p:spPr>
          <a:xfrm>
            <a:off x="571500" y="2520000"/>
            <a:ext cx="10600000" cy="760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 spc="0">
                <a:solidFill>
                  <a:srgbClr val="18181B"/>
                </a:solidFill>
                <a:latin typeface="ABC Favorit"/>
              </a:rPr>
              <a:t>Each asset bends the cost surface into a well; couplings (green = reinforcing, red = opposing) and the constraint nodes between them shape it. The search settles into ZEC and SOL — the two deepest wells.</a:t>
            </a:r>
          </a:p>
        </p:txBody>
      </p:sp>
      <p:pic>
        <p:nvPicPr>
          <p:cNvPr id="16" name="Assets on the cost surface"/>
          <p:cNvPicPr>
            <a:picLocks noChangeAspect="1"/>
          </p:cNvPicPr>
          <p:nvPr/>
        </p:nvPicPr>
        <p:blipFill>
          <a:blip r:embed="rIdWG"/>
          <a:stretch>
            <a:fillRect/>
          </a:stretch>
        </p:blipFill>
        <p:spPr>
          <a:xfrm>
            <a:off x="3053502" y="3140000"/>
            <a:ext cx="6084995" cy="27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